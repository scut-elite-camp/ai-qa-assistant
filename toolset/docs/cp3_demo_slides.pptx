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label-AI-QA-Assistant / Toolset CP3">
            <a:extLst>
              <a:ext uri="{FF2B5EF4-FFF2-40B4-BE49-F238E27FC236}">
                <a16:creationId xmlns:a16="http://schemas.microsoft.com/office/drawing/2014/main" id="{8571AFAA-7FAF-4D44-AE54-CBFD5142C7E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AI-QA-Assistant / Toolset CP3</a:t>
            </a:r>
          </a:p>
        </p:txBody>
      </p:sp>
      <p:sp>
        <p:nvSpPr>
          <p:cNvPr id="2" name="s1-title">
            <a:extLst>
              <a:ext uri="{FF2B5EF4-FFF2-40B4-BE49-F238E27FC236}">
                <a16:creationId xmlns:a16="http://schemas.microsoft.com/office/drawing/2014/main" id="{0409499C-B8D3-4AB7-A5F8-DA1C03244E1E}"/>
              </a:ext>
            </a:extLst>
          </p:cNvPr>
          <p:cNvSpPr>
            <a:spLocks noGrp="1"/>
          </p:cNvSpPr>
          <p:nvPr/>
        </p:nvSpPr>
        <p:spPr>
          <a:xfrm>
            <a:off x="400050" y="876300"/>
            <a:ext cx="723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新增功能对应文件</a:t>
            </a:r>
          </a:p>
        </p:txBody>
      </p:sp>
      <p:sp>
        <p:nvSpPr>
          <p:cNvPr id="3" name="s1-subtitle">
            <a:extLst>
              <a:ext uri="{FF2B5EF4-FFF2-40B4-BE49-F238E27FC236}">
                <a16:creationId xmlns:a16="http://schemas.microsoft.com/office/drawing/2014/main" id="{70032347-1DA9-4571-ADE4-176A860D2DF7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781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CP3 重点补齐日志、错误处理、评估和导出能力。</a:t>
            </a:r>
          </a:p>
        </p:txBody>
      </p:sp>
      <p:sp>
        <p:nvSpPr>
          <p:cNvPr id="4" name="s1-table-bg">
            <a:extLst>
              <a:ext uri="{FF2B5EF4-FFF2-40B4-BE49-F238E27FC236}">
                <a16:creationId xmlns:a16="http://schemas.microsoft.com/office/drawing/2014/main" id="{784CD9F9-E754-4D7D-916E-B269E8742185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113919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s1-table-head">
            <a:extLst>
              <a:ext uri="{FF2B5EF4-FFF2-40B4-BE49-F238E27FC236}">
                <a16:creationId xmlns:a16="http://schemas.microsoft.com/office/drawing/2014/main" id="{2FA0F770-B2A9-4E5F-BCAC-E3663C5A8C98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11391900" cy="5143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s1-head-feature">
            <a:extLst>
              <a:ext uri="{FF2B5EF4-FFF2-40B4-BE49-F238E27FC236}">
                <a16:creationId xmlns:a16="http://schemas.microsoft.com/office/drawing/2014/main" id="{D947F6F7-EFBF-4883-AA47-AE37A153C29B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新增功能</a:t>
            </a:r>
          </a:p>
        </p:txBody>
      </p:sp>
      <p:sp>
        <p:nvSpPr>
          <p:cNvPr id="7" name="s1-head-file">
            <a:extLst>
              <a:ext uri="{FF2B5EF4-FFF2-40B4-BE49-F238E27FC236}">
                <a16:creationId xmlns:a16="http://schemas.microsoft.com/office/drawing/2014/main" id="{F3C4A739-EBAE-4D65-A564-FA890A8AA8FA}"/>
              </a:ext>
            </a:extLst>
          </p:cNvPr>
          <p:cNvSpPr>
            <a:spLocks noGrp="1"/>
          </p:cNvSpPr>
          <p:nvPr/>
        </p:nvSpPr>
        <p:spPr>
          <a:xfrm>
            <a:off x="3200400" y="2381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对应文件</a:t>
            </a:r>
          </a:p>
        </p:txBody>
      </p:sp>
      <p:sp>
        <p:nvSpPr>
          <p:cNvPr id="8" name="s1-head-desc">
            <a:extLst>
              <a:ext uri="{FF2B5EF4-FFF2-40B4-BE49-F238E27FC236}">
                <a16:creationId xmlns:a16="http://schemas.microsoft.com/office/drawing/2014/main" id="{5CB2ACA3-CF69-4AB8-B98C-17A62DE90A59}"/>
              </a:ext>
            </a:extLst>
          </p:cNvPr>
          <p:cNvSpPr>
            <a:spLocks noGrp="1"/>
          </p:cNvSpPr>
          <p:nvPr/>
        </p:nvSpPr>
        <p:spPr>
          <a:xfrm>
            <a:off x="7067550" y="23812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实现内容</a:t>
            </a:r>
          </a:p>
        </p:txBody>
      </p:sp>
      <p:sp>
        <p:nvSpPr>
          <p:cNvPr id="9" name="s1-row-feature-0">
            <a:extLst>
              <a:ext uri="{FF2B5EF4-FFF2-40B4-BE49-F238E27FC236}">
                <a16:creationId xmlns:a16="http://schemas.microsoft.com/office/drawing/2014/main" id="{5D143FE5-1835-4F60-8FFF-C03C00177690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检索日志</a:t>
            </a:r>
          </a:p>
        </p:txBody>
      </p:sp>
      <p:sp>
        <p:nvSpPr>
          <p:cNvPr id="10" name="s1-row-file-0">
            <a:extLst>
              <a:ext uri="{FF2B5EF4-FFF2-40B4-BE49-F238E27FC236}">
                <a16:creationId xmlns:a16="http://schemas.microsoft.com/office/drawing/2014/main" id="{3F560134-B748-4145-A73D-EB72A1E5A057}"/>
              </a:ext>
            </a:extLst>
          </p:cNvPr>
          <p:cNvSpPr>
            <a:spLocks noGrp="1"/>
          </p:cNvSpPr>
          <p:nvPr/>
        </p:nvSpPr>
        <p:spPr>
          <a:xfrm>
            <a:off x="3200400" y="2876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项目代码/tool_layer/search_tool.py</a:t>
            </a:r>
          </a:p>
        </p:txBody>
      </p:sp>
      <p:sp>
        <p:nvSpPr>
          <p:cNvPr id="11" name="s1-row-desc-0">
            <a:extLst>
              <a:ext uri="{FF2B5EF4-FFF2-40B4-BE49-F238E27FC236}">
                <a16:creationId xmlns:a16="http://schemas.microsoft.com/office/drawing/2014/main" id="{2504B675-DD27-4DCB-93B8-9DEFE3F22834}"/>
              </a:ext>
            </a:extLst>
          </p:cNvPr>
          <p:cNvSpPr>
            <a:spLocks noGrp="1"/>
          </p:cNvSpPr>
          <p:nvPr/>
        </p:nvSpPr>
        <p:spPr>
          <a:xfrm>
            <a:off x="7067550" y="28765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记录 trace_id、mode、top_k、结果数、耗时和 top scores</a:t>
            </a:r>
          </a:p>
        </p:txBody>
      </p:sp>
      <p:sp>
        <p:nvSpPr>
          <p:cNvPr id="12" name="s1-row-bg-1">
            <a:extLst>
              <a:ext uri="{FF2B5EF4-FFF2-40B4-BE49-F238E27FC236}">
                <a16:creationId xmlns:a16="http://schemas.microsoft.com/office/drawing/2014/main" id="{9AAC18AD-5DAC-430A-A434-D325C350AA26}"/>
              </a:ext>
            </a:extLst>
          </p:cNvPr>
          <p:cNvSpPr>
            <a:spLocks noGrp="1"/>
          </p:cNvSpPr>
          <p:nvPr/>
        </p:nvSpPr>
        <p:spPr>
          <a:xfrm>
            <a:off x="400050" y="3338921"/>
            <a:ext cx="11391900" cy="4572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3" name="s1-row-feature-1">
            <a:extLst>
              <a:ext uri="{FF2B5EF4-FFF2-40B4-BE49-F238E27FC236}">
                <a16:creationId xmlns:a16="http://schemas.microsoft.com/office/drawing/2014/main" id="{3FCB8557-171C-477B-B4E3-5E0E309C7BEF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错误处理</a:t>
            </a:r>
          </a:p>
        </p:txBody>
      </p:sp>
      <p:sp>
        <p:nvSpPr>
          <p:cNvPr id="14" name="s1-row-file-1">
            <a:extLst>
              <a:ext uri="{FF2B5EF4-FFF2-40B4-BE49-F238E27FC236}">
                <a16:creationId xmlns:a16="http://schemas.microsoft.com/office/drawing/2014/main" id="{E715B400-C553-4934-A87D-5CB6CAC013AC}"/>
              </a:ext>
            </a:extLst>
          </p:cNvPr>
          <p:cNvSpPr>
            <a:spLocks noGrp="1"/>
          </p:cNvSpPr>
          <p:nvPr/>
        </p:nvSpPr>
        <p:spPr>
          <a:xfrm>
            <a:off x="3200400" y="3343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项目代码/tool_layer/search_tool.py</a:t>
            </a:r>
          </a:p>
        </p:txBody>
      </p:sp>
      <p:sp>
        <p:nvSpPr>
          <p:cNvPr id="15" name="s1-row-desc-1">
            <a:extLst>
              <a:ext uri="{FF2B5EF4-FFF2-40B4-BE49-F238E27FC236}">
                <a16:creationId xmlns:a16="http://schemas.microsoft.com/office/drawing/2014/main" id="{6199C328-B8D5-4560-909E-DDC433E5F227}"/>
              </a:ext>
            </a:extLst>
          </p:cNvPr>
          <p:cNvSpPr>
            <a:spLocks noGrp="1"/>
          </p:cNvSpPr>
          <p:nvPr/>
        </p:nvSpPr>
        <p:spPr>
          <a:xfrm>
            <a:off x="7067550" y="334327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参数错误抛 RetrievalParameterError；后端失败包装 RetrievalError</a:t>
            </a:r>
          </a:p>
        </p:txBody>
      </p:sp>
      <p:sp>
        <p:nvSpPr>
          <p:cNvPr id="16" name="s1-row-feature-2">
            <a:extLst>
              <a:ext uri="{FF2B5EF4-FFF2-40B4-BE49-F238E27FC236}">
                <a16:creationId xmlns:a16="http://schemas.microsoft.com/office/drawing/2014/main" id="{30A8AD3E-FCA8-46E1-AB8D-7610B9C501B4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评估指标</a:t>
            </a:r>
          </a:p>
        </p:txBody>
      </p:sp>
      <p:sp>
        <p:nvSpPr>
          <p:cNvPr id="17" name="s1-row-file-2">
            <a:extLst>
              <a:ext uri="{FF2B5EF4-FFF2-40B4-BE49-F238E27FC236}">
                <a16:creationId xmlns:a16="http://schemas.microsoft.com/office/drawing/2014/main" id="{F7346328-F2F4-42DA-A6D1-0F8D749B2AA8}"/>
              </a:ext>
            </a:extLst>
          </p:cNvPr>
          <p:cNvSpPr>
            <a:spLocks noGrp="1"/>
          </p:cNvSpPr>
          <p:nvPr/>
        </p:nvSpPr>
        <p:spPr>
          <a:xfrm>
            <a:off x="3200400" y="38100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项目代码/tool_layer/evaluation.py</a:t>
            </a:r>
          </a:p>
        </p:txBody>
      </p:sp>
      <p:sp>
        <p:nvSpPr>
          <p:cNvPr id="18" name="s1-row-desc-2">
            <a:extLst>
              <a:ext uri="{FF2B5EF4-FFF2-40B4-BE49-F238E27FC236}">
                <a16:creationId xmlns:a16="http://schemas.microsoft.com/office/drawing/2014/main" id="{A9614DAA-F509-4D9A-A83A-6C8D89E3DC3B}"/>
              </a:ext>
            </a:extLst>
          </p:cNvPr>
          <p:cNvSpPr>
            <a:spLocks noGrp="1"/>
          </p:cNvSpPr>
          <p:nvPr/>
        </p:nvSpPr>
        <p:spPr>
          <a:xfrm>
            <a:off x="7067550" y="38100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新增 evaluate_retrieval，计算 Hit Rate@K 和 MRR</a:t>
            </a:r>
          </a:p>
        </p:txBody>
      </p:sp>
      <p:sp>
        <p:nvSpPr>
          <p:cNvPr id="19" name="s1-row-bg-3">
            <a:extLst>
              <a:ext uri="{FF2B5EF4-FFF2-40B4-BE49-F238E27FC236}">
                <a16:creationId xmlns:a16="http://schemas.microsoft.com/office/drawing/2014/main" id="{B3547813-285E-419F-B2F6-C5321C5F888F}"/>
              </a:ext>
            </a:extLst>
          </p:cNvPr>
          <p:cNvSpPr>
            <a:spLocks noGrp="1"/>
          </p:cNvSpPr>
          <p:nvPr/>
        </p:nvSpPr>
        <p:spPr>
          <a:xfrm>
            <a:off x="400050" y="4200525"/>
            <a:ext cx="11391900" cy="4572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20" name="s1-row-feature-3">
            <a:extLst>
              <a:ext uri="{FF2B5EF4-FFF2-40B4-BE49-F238E27FC236}">
                <a16:creationId xmlns:a16="http://schemas.microsoft.com/office/drawing/2014/main" id="{C7FFDC12-8FCE-4E44-A539-606D87479211}"/>
              </a:ext>
            </a:extLst>
          </p:cNvPr>
          <p:cNvSpPr>
            <a:spLocks noGrp="1"/>
          </p:cNvSpPr>
          <p:nvPr/>
        </p:nvSpPr>
        <p:spPr>
          <a:xfrm>
            <a:off x="685800" y="42767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评测样例</a:t>
            </a:r>
          </a:p>
        </p:txBody>
      </p:sp>
      <p:sp>
        <p:nvSpPr>
          <p:cNvPr id="21" name="s1-row-file-3">
            <a:extLst>
              <a:ext uri="{FF2B5EF4-FFF2-40B4-BE49-F238E27FC236}">
                <a16:creationId xmlns:a16="http://schemas.microsoft.com/office/drawing/2014/main" id="{130A01F0-F1E3-437F-9908-E3371DE7BABC}"/>
              </a:ext>
            </a:extLst>
          </p:cNvPr>
          <p:cNvSpPr>
            <a:spLocks noGrp="1"/>
          </p:cNvSpPr>
          <p:nvPr/>
        </p:nvSpPr>
        <p:spPr>
          <a:xfrm>
            <a:off x="3200400" y="42767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项目代码/data/eval_questions.json</a:t>
            </a:r>
          </a:p>
        </p:txBody>
      </p:sp>
      <p:sp>
        <p:nvSpPr>
          <p:cNvPr id="22" name="s1-row-desc-3">
            <a:extLst>
              <a:ext uri="{FF2B5EF4-FFF2-40B4-BE49-F238E27FC236}">
                <a16:creationId xmlns:a16="http://schemas.microsoft.com/office/drawing/2014/main" id="{F03CCF9C-FD50-48FF-962A-513C59B4BFA4}"/>
              </a:ext>
            </a:extLst>
          </p:cNvPr>
          <p:cNvSpPr>
            <a:spLocks noGrp="1"/>
          </p:cNvSpPr>
          <p:nvPr/>
        </p:nvSpPr>
        <p:spPr>
          <a:xfrm>
            <a:off x="7067550" y="427672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提供 4 条小型检索评测问题和期望文档</a:t>
            </a:r>
          </a:p>
        </p:txBody>
      </p:sp>
      <p:sp>
        <p:nvSpPr>
          <p:cNvPr id="23" name="s1-row-feature-4">
            <a:extLst>
              <a:ext uri="{FF2B5EF4-FFF2-40B4-BE49-F238E27FC236}">
                <a16:creationId xmlns:a16="http://schemas.microsoft.com/office/drawing/2014/main" id="{59593365-FDF6-4763-9858-D3DFED8E28CC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导出演示</a:t>
            </a:r>
          </a:p>
        </p:txBody>
      </p:sp>
      <p:sp>
        <p:nvSpPr>
          <p:cNvPr id="24" name="s1-row-file-4">
            <a:extLst>
              <a:ext uri="{FF2B5EF4-FFF2-40B4-BE49-F238E27FC236}">
                <a16:creationId xmlns:a16="http://schemas.microsoft.com/office/drawing/2014/main" id="{EA979B78-0734-4744-8056-1E02812C2770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项目代码/demo_cp3_evaluate.py</a:t>
            </a:r>
          </a:p>
        </p:txBody>
      </p:sp>
      <p:sp>
        <p:nvSpPr>
          <p:cNvPr id="25" name="s1-row-desc-4">
            <a:extLst>
              <a:ext uri="{FF2B5EF4-FFF2-40B4-BE49-F238E27FC236}">
                <a16:creationId xmlns:a16="http://schemas.microsoft.com/office/drawing/2014/main" id="{C7572F2A-6E9A-46F2-9423-DB3ED46144DC}"/>
              </a:ext>
            </a:extLst>
          </p:cNvPr>
          <p:cNvSpPr>
            <a:spLocks noGrp="1"/>
          </p:cNvSpPr>
          <p:nvPr/>
        </p:nvSpPr>
        <p:spPr>
          <a:xfrm>
            <a:off x="7067550" y="4743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运行后生成 eval_results.json 并打印整体指标</a:t>
            </a:r>
          </a:p>
        </p:txBody>
      </p:sp>
      <p:sp>
        <p:nvSpPr>
          <p:cNvPr id="26" name="s1-row-bg-5">
            <a:extLst>
              <a:ext uri="{FF2B5EF4-FFF2-40B4-BE49-F238E27FC236}">
                <a16:creationId xmlns:a16="http://schemas.microsoft.com/office/drawing/2014/main" id="{07DB07A5-C088-4E62-BAD4-DD7865C454F8}"/>
              </a:ext>
            </a:extLst>
          </p:cNvPr>
          <p:cNvSpPr>
            <a:spLocks noGrp="1"/>
          </p:cNvSpPr>
          <p:nvPr/>
        </p:nvSpPr>
        <p:spPr>
          <a:xfrm>
            <a:off x="400050" y="5133975"/>
            <a:ext cx="11391900" cy="4572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27" name="s1-row-feature-5">
            <a:extLst>
              <a:ext uri="{FF2B5EF4-FFF2-40B4-BE49-F238E27FC236}">
                <a16:creationId xmlns:a16="http://schemas.microsoft.com/office/drawing/2014/main" id="{201B55F6-CBCC-433C-9182-3A6A2654728F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测试覆盖</a:t>
            </a:r>
          </a:p>
        </p:txBody>
      </p:sp>
      <p:sp>
        <p:nvSpPr>
          <p:cNvPr id="28" name="s1-row-file-5">
            <a:extLst>
              <a:ext uri="{FF2B5EF4-FFF2-40B4-BE49-F238E27FC236}">
                <a16:creationId xmlns:a16="http://schemas.microsoft.com/office/drawing/2014/main" id="{322B14FA-A974-4351-BDC0-564250C23D49}"/>
              </a:ext>
            </a:extLst>
          </p:cNvPr>
          <p:cNvSpPr>
            <a:spLocks noGrp="1"/>
          </p:cNvSpPr>
          <p:nvPr/>
        </p:nvSpPr>
        <p:spPr>
          <a:xfrm>
            <a:off x="3200400" y="52101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项目代码/tests/test_search_tool.py</a:t>
            </a:r>
          </a:p>
        </p:txBody>
      </p:sp>
      <p:sp>
        <p:nvSpPr>
          <p:cNvPr id="29" name="s1-row-desc-5">
            <a:extLst>
              <a:ext uri="{FF2B5EF4-FFF2-40B4-BE49-F238E27FC236}">
                <a16:creationId xmlns:a16="http://schemas.microsoft.com/office/drawing/2014/main" id="{EA5E709B-1C0E-4DF6-8749-8F295D5B4D58}"/>
              </a:ext>
            </a:extLst>
          </p:cNvPr>
          <p:cNvSpPr>
            <a:spLocks noGrp="1"/>
          </p:cNvSpPr>
          <p:nvPr/>
        </p:nvSpPr>
        <p:spPr>
          <a:xfrm>
            <a:off x="7067550" y="521017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覆盖日志、异常包装、评估导出和指标计算</a:t>
            </a:r>
          </a:p>
        </p:txBody>
      </p:sp>
      <p:sp>
        <p:nvSpPr>
          <p:cNvPr id="30" name="footer-1">
            <a:extLst>
              <a:ext uri="{FF2B5EF4-FFF2-40B4-BE49-F238E27FC236}">
                <a16:creationId xmlns:a16="http://schemas.microsoft.com/office/drawing/2014/main" id="{7A30E3D2-4D11-467F-920C-5BFF29F050E3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9122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abel-Evaluation Metrics">
            <a:extLst>
              <a:ext uri="{FF2B5EF4-FFF2-40B4-BE49-F238E27FC236}">
                <a16:creationId xmlns:a16="http://schemas.microsoft.com/office/drawing/2014/main" id="{EAB24F6C-5297-47CD-B71C-F1C72C5CC66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Evaluation Metrics</a:t>
            </a:r>
          </a:p>
        </p:txBody>
      </p:sp>
      <p:sp>
        <p:nvSpPr>
          <p:cNvPr id="2" name="s2-title">
            <a:extLst>
              <a:ext uri="{FF2B5EF4-FFF2-40B4-BE49-F238E27FC236}">
                <a16:creationId xmlns:a16="http://schemas.microsoft.com/office/drawing/2014/main" id="{D7D422BB-C84C-45D4-91AD-30895B38714A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每个评估指标是什么意思</a:t>
            </a:r>
          </a:p>
        </p:txBody>
      </p:sp>
      <p:sp>
        <p:nvSpPr>
          <p:cNvPr id="3" name="s2-subtitle">
            <a:extLst>
              <a:ext uri="{FF2B5EF4-FFF2-40B4-BE49-F238E27FC236}">
                <a16:creationId xmlns:a16="http://schemas.microsoft.com/office/drawing/2014/main" id="{0407600E-0A40-462F-ACD9-485E2AF1BDA7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819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这些指标用于回答：预期文档是否出现在检索结果前几名。</a:t>
            </a:r>
          </a:p>
        </p:txBody>
      </p:sp>
      <p:sp>
        <p:nvSpPr>
          <p:cNvPr id="4" name="s2-card-0">
            <a:extLst>
              <a:ext uri="{FF2B5EF4-FFF2-40B4-BE49-F238E27FC236}">
                <a16:creationId xmlns:a16="http://schemas.microsoft.com/office/drawing/2014/main" id="{82D09538-C04D-424D-A892-384F9C246881}"/>
              </a:ext>
            </a:extLst>
          </p:cNvPr>
          <p:cNvSpPr>
            <a:spLocks noGrp="1"/>
          </p:cNvSpPr>
          <p:nvPr/>
        </p:nvSpPr>
        <p:spPr>
          <a:xfrm>
            <a:off x="400050" y="2266950"/>
            <a:ext cx="550545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s2-metric-0">
            <a:extLst>
              <a:ext uri="{FF2B5EF4-FFF2-40B4-BE49-F238E27FC236}">
                <a16:creationId xmlns:a16="http://schemas.microsoft.com/office/drawing/2014/main" id="{BF863616-0087-44F9-B00D-CDA3938F77AF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Hit Rate@1</a:t>
            </a:r>
          </a:p>
        </p:txBody>
      </p:sp>
      <p:sp>
        <p:nvSpPr>
          <p:cNvPr id="6" name="s2-meaning-0">
            <a:extLst>
              <a:ext uri="{FF2B5EF4-FFF2-40B4-BE49-F238E27FC236}">
                <a16:creationId xmlns:a16="http://schemas.microsoft.com/office/drawing/2014/main" id="{B7A81E36-5337-4506-9E6D-25B41C0BA1A9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看第 1 个结果是否命中</a:t>
            </a:r>
          </a:p>
        </p:txBody>
      </p:sp>
      <p:sp>
        <p:nvSpPr>
          <p:cNvPr id="7" name="s2-explain-0">
            <a:extLst>
              <a:ext uri="{FF2B5EF4-FFF2-40B4-BE49-F238E27FC236}">
                <a16:creationId xmlns:a16="http://schemas.microsoft.com/office/drawing/2014/main" id="{EA7DCA7F-3ACC-4CA6-9F1D-48D904BFF39A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如果正确文档排在第一名，记为 1；否则记为 0。</a:t>
            </a:r>
          </a:p>
        </p:txBody>
      </p:sp>
      <p:sp>
        <p:nvSpPr>
          <p:cNvPr id="8" name="s2-card-1">
            <a:extLst>
              <a:ext uri="{FF2B5EF4-FFF2-40B4-BE49-F238E27FC236}">
                <a16:creationId xmlns:a16="http://schemas.microsoft.com/office/drawing/2014/main" id="{B3E549B4-F415-4CBF-8F2E-F5D0BA52FCCA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5505450" cy="1390650"/>
          </a:xfrm>
          <a:prstGeom prst="rect">
            <a:avLst/>
          </a:prstGeom>
          <a:solidFill>
            <a:srgbClr val="FFF0EA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s2-metric-1">
            <a:extLst>
              <a:ext uri="{FF2B5EF4-FFF2-40B4-BE49-F238E27FC236}">
                <a16:creationId xmlns:a16="http://schemas.microsoft.com/office/drawing/2014/main" id="{2A7A01AF-9C72-4BFF-90F2-277ADE1E7584}"/>
              </a:ext>
            </a:extLst>
          </p:cNvPr>
          <p:cNvSpPr>
            <a:spLocks noGrp="1"/>
          </p:cNvSpPr>
          <p:nvPr/>
        </p:nvSpPr>
        <p:spPr>
          <a:xfrm>
            <a:off x="6572250" y="24955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Hit Rate@3</a:t>
            </a:r>
          </a:p>
        </p:txBody>
      </p:sp>
      <p:sp>
        <p:nvSpPr>
          <p:cNvPr id="10" name="s2-meaning-1">
            <a:extLst>
              <a:ext uri="{FF2B5EF4-FFF2-40B4-BE49-F238E27FC236}">
                <a16:creationId xmlns:a16="http://schemas.microsoft.com/office/drawing/2014/main" id="{CE1754AA-76B1-4795-90F7-8F29742992D9}"/>
              </a:ext>
            </a:extLst>
          </p:cNvPr>
          <p:cNvSpPr>
            <a:spLocks noGrp="1"/>
          </p:cNvSpPr>
          <p:nvPr/>
        </p:nvSpPr>
        <p:spPr>
          <a:xfrm>
            <a:off x="6572250" y="2914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看前 3 个结果是否命中</a:t>
            </a:r>
          </a:p>
        </p:txBody>
      </p:sp>
      <p:sp>
        <p:nvSpPr>
          <p:cNvPr id="11" name="s2-explain-1">
            <a:extLst>
              <a:ext uri="{FF2B5EF4-FFF2-40B4-BE49-F238E27FC236}">
                <a16:creationId xmlns:a16="http://schemas.microsoft.com/office/drawing/2014/main" id="{0360E8AC-075D-4725-95E7-60902BB09693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只要正确文档出现在 Top 3 内，就算命中。</a:t>
            </a:r>
          </a:p>
        </p:txBody>
      </p:sp>
      <p:sp>
        <p:nvSpPr>
          <p:cNvPr id="12" name="s2-card-2">
            <a:extLst>
              <a:ext uri="{FF2B5EF4-FFF2-40B4-BE49-F238E27FC236}">
                <a16:creationId xmlns:a16="http://schemas.microsoft.com/office/drawing/2014/main" id="{D5781C1D-CD3C-4096-B025-D5B4D6032562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550545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s2-metric-2">
            <a:extLst>
              <a:ext uri="{FF2B5EF4-FFF2-40B4-BE49-F238E27FC236}">
                <a16:creationId xmlns:a16="http://schemas.microsoft.com/office/drawing/2014/main" id="{3A889AAC-BA9B-441E-B725-14A8BEADAC71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Hit Rate@5</a:t>
            </a:r>
          </a:p>
        </p:txBody>
      </p:sp>
      <p:sp>
        <p:nvSpPr>
          <p:cNvPr id="14" name="s2-meaning-2">
            <a:extLst>
              <a:ext uri="{FF2B5EF4-FFF2-40B4-BE49-F238E27FC236}">
                <a16:creationId xmlns:a16="http://schemas.microsoft.com/office/drawing/2014/main" id="{D4177E36-517A-45D0-B4F4-51CACBB32680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看前 5 个结果是否命中</a:t>
            </a:r>
          </a:p>
        </p:txBody>
      </p:sp>
      <p:sp>
        <p:nvSpPr>
          <p:cNvPr id="15" name="s2-explain-2">
            <a:extLst>
              <a:ext uri="{FF2B5EF4-FFF2-40B4-BE49-F238E27FC236}">
                <a16:creationId xmlns:a16="http://schemas.microsoft.com/office/drawing/2014/main" id="{8E98D534-262B-4CAF-946D-5476CB4618A4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用于判断检索结果能否给 Agent 提供足够上下文。</a:t>
            </a:r>
          </a:p>
        </p:txBody>
      </p:sp>
      <p:sp>
        <p:nvSpPr>
          <p:cNvPr id="16" name="s2-card-3">
            <a:extLst>
              <a:ext uri="{FF2B5EF4-FFF2-40B4-BE49-F238E27FC236}">
                <a16:creationId xmlns:a16="http://schemas.microsoft.com/office/drawing/2014/main" id="{F6F5A5A3-C8CD-40FD-AA44-C80926341872}"/>
              </a:ext>
            </a:extLst>
          </p:cNvPr>
          <p:cNvSpPr>
            <a:spLocks noGrp="1"/>
          </p:cNvSpPr>
          <p:nvPr/>
        </p:nvSpPr>
        <p:spPr>
          <a:xfrm>
            <a:off x="6286500" y="4171950"/>
            <a:ext cx="550545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s2-metric-3">
            <a:extLst>
              <a:ext uri="{FF2B5EF4-FFF2-40B4-BE49-F238E27FC236}">
                <a16:creationId xmlns:a16="http://schemas.microsoft.com/office/drawing/2014/main" id="{4A189B15-F8C6-4B58-A061-2743AC155228}"/>
              </a:ext>
            </a:extLst>
          </p:cNvPr>
          <p:cNvSpPr>
            <a:spLocks noGrp="1"/>
          </p:cNvSpPr>
          <p:nvPr/>
        </p:nvSpPr>
        <p:spPr>
          <a:xfrm>
            <a:off x="6572250" y="44005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MRR</a:t>
            </a:r>
          </a:p>
        </p:txBody>
      </p:sp>
      <p:sp>
        <p:nvSpPr>
          <p:cNvPr id="18" name="s2-meaning-3">
            <a:extLst>
              <a:ext uri="{FF2B5EF4-FFF2-40B4-BE49-F238E27FC236}">
                <a16:creationId xmlns:a16="http://schemas.microsoft.com/office/drawing/2014/main" id="{3EF3D45E-6CF2-4A0F-A141-2B7B927DAAD6}"/>
              </a:ext>
            </a:extLst>
          </p:cNvPr>
          <p:cNvSpPr>
            <a:spLocks noGrp="1"/>
          </p:cNvSpPr>
          <p:nvPr/>
        </p:nvSpPr>
        <p:spPr>
          <a:xfrm>
            <a:off x="6572250" y="4819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首个正确结果排名越靠前越高</a:t>
            </a:r>
          </a:p>
        </p:txBody>
      </p:sp>
      <p:sp>
        <p:nvSpPr>
          <p:cNvPr id="19" name="s2-explain-3">
            <a:extLst>
              <a:ext uri="{FF2B5EF4-FFF2-40B4-BE49-F238E27FC236}">
                <a16:creationId xmlns:a16="http://schemas.microsoft.com/office/drawing/2014/main" id="{4E3F4948-2B29-4F41-B9E7-C9FAD37CA948}"/>
              </a:ext>
            </a:extLst>
          </p:cNvPr>
          <p:cNvSpPr>
            <a:spLocks noGrp="1"/>
          </p:cNvSpPr>
          <p:nvPr/>
        </p:nvSpPr>
        <p:spPr>
          <a:xfrm>
            <a:off x="6572250" y="51625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第 1 名命中得 1，第 2 名得 1/2，第 3 名得 1/3。</a:t>
            </a:r>
          </a:p>
        </p:txBody>
      </p:sp>
      <p:sp>
        <p:nvSpPr>
          <p:cNvPr id="20" name="s2-note">
            <a:extLst>
              <a:ext uri="{FF2B5EF4-FFF2-40B4-BE49-F238E27FC236}">
                <a16:creationId xmlns:a16="http://schemas.microsoft.com/office/drawing/2014/main" id="{A983BAA4-FBD2-4755-8BFA-E4D3C48A3817}"/>
              </a:ext>
            </a:extLst>
          </p:cNvPr>
          <p:cNvSpPr>
            <a:spLocks noGrp="1"/>
          </p:cNvSpPr>
          <p:nvPr/>
        </p:nvSpPr>
        <p:spPr>
          <a:xfrm>
            <a:off x="400050" y="601980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演示里 Hit Rate@3 = 1.0000，表示 4 个问题的正确文档都进入了 Top 3。</a:t>
            </a:r>
          </a:p>
        </p:txBody>
      </p:sp>
      <p:sp>
        <p:nvSpPr>
          <p:cNvPr id="21" name="footer-2">
            <a:extLst>
              <a:ext uri="{FF2B5EF4-FFF2-40B4-BE49-F238E27FC236}">
                <a16:creationId xmlns:a16="http://schemas.microsoft.com/office/drawing/2014/main" id="{4250850B-EE17-4C84-AB2E-43D5D90E0832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997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abel-Logs And Export">
            <a:extLst>
              <a:ext uri="{FF2B5EF4-FFF2-40B4-BE49-F238E27FC236}">
                <a16:creationId xmlns:a16="http://schemas.microsoft.com/office/drawing/2014/main" id="{7B3DE1C7-31FD-4738-9063-8EBAF51643A5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Logs And Export</a:t>
            </a:r>
          </a:p>
        </p:txBody>
      </p:sp>
      <p:sp>
        <p:nvSpPr>
          <p:cNvPr id="2" name="s3-title">
            <a:extLst>
              <a:ext uri="{FF2B5EF4-FFF2-40B4-BE49-F238E27FC236}">
                <a16:creationId xmlns:a16="http://schemas.microsoft.com/office/drawing/2014/main" id="{4C39C4D6-CCAB-45BF-935D-9CF3430DE320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日志字段和导出结果怎么读</a:t>
            </a:r>
          </a:p>
        </p:txBody>
      </p:sp>
      <p:sp>
        <p:nvSpPr>
          <p:cNvPr id="3" name="s3-subtitle">
            <a:extLst>
              <a:ext uri="{FF2B5EF4-FFF2-40B4-BE49-F238E27FC236}">
                <a16:creationId xmlns:a16="http://schemas.microsoft.com/office/drawing/2014/main" id="{437CC971-499D-4D6A-AD07-64325E1ECF39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CP3 输出两类可检查证据：检索日志和 eval_results.json。</a:t>
            </a:r>
          </a:p>
        </p:txBody>
      </p:sp>
      <p:sp>
        <p:nvSpPr>
          <p:cNvPr id="4" name="s3-log-panel">
            <a:extLst>
              <a:ext uri="{FF2B5EF4-FFF2-40B4-BE49-F238E27FC236}">
                <a16:creationId xmlns:a16="http://schemas.microsoft.com/office/drawing/2014/main" id="{7DED8AFB-E368-4091-84E7-ED3C3140793D}"/>
              </a:ext>
            </a:extLst>
          </p:cNvPr>
          <p:cNvSpPr>
            <a:spLocks noGrp="1"/>
          </p:cNvSpPr>
          <p:nvPr/>
        </p:nvSpPr>
        <p:spPr>
          <a:xfrm>
            <a:off x="400050" y="2266950"/>
            <a:ext cx="5219700" cy="2971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s3-log-title">
            <a:extLst>
              <a:ext uri="{FF2B5EF4-FFF2-40B4-BE49-F238E27FC236}">
                <a16:creationId xmlns:a16="http://schemas.microsoft.com/office/drawing/2014/main" id="{9C62C69F-B736-45DD-BCAC-FC5FA39DD10A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检索日志字段</a:t>
            </a:r>
          </a:p>
        </p:txBody>
      </p:sp>
      <p:sp>
        <p:nvSpPr>
          <p:cNvPr id="6" name="s3-log-key-0">
            <a:extLst>
              <a:ext uri="{FF2B5EF4-FFF2-40B4-BE49-F238E27FC236}">
                <a16:creationId xmlns:a16="http://schemas.microsoft.com/office/drawing/2014/main" id="{9E4DE6C4-F265-43CA-A833-9D4137D2BB53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trace_id</a:t>
            </a:r>
          </a:p>
        </p:txBody>
      </p:sp>
      <p:sp>
        <p:nvSpPr>
          <p:cNvPr id="7" name="s3-log-val-0">
            <a:extLst>
              <a:ext uri="{FF2B5EF4-FFF2-40B4-BE49-F238E27FC236}">
                <a16:creationId xmlns:a16="http://schemas.microsoft.com/office/drawing/2014/main" id="{C382C05A-BD55-4EE1-BA29-451606FB5385}"/>
              </a:ext>
            </a:extLst>
          </p:cNvPr>
          <p:cNvSpPr>
            <a:spLocks noGrp="1"/>
          </p:cNvSpPr>
          <p:nvPr/>
        </p:nvSpPr>
        <p:spPr>
          <a:xfrm>
            <a:off x="2305050" y="3105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一次请求的追踪 ID</a:t>
            </a:r>
          </a:p>
        </p:txBody>
      </p:sp>
      <p:sp>
        <p:nvSpPr>
          <p:cNvPr id="8" name="s3-log-key-1">
            <a:extLst>
              <a:ext uri="{FF2B5EF4-FFF2-40B4-BE49-F238E27FC236}">
                <a16:creationId xmlns:a16="http://schemas.microsoft.com/office/drawing/2014/main" id="{1847AED8-C252-4EE4-9604-B848A286A435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mode</a:t>
            </a:r>
          </a:p>
        </p:txBody>
      </p:sp>
      <p:sp>
        <p:nvSpPr>
          <p:cNvPr id="9" name="s3-log-val-1">
            <a:extLst>
              <a:ext uri="{FF2B5EF4-FFF2-40B4-BE49-F238E27FC236}">
                <a16:creationId xmlns:a16="http://schemas.microsoft.com/office/drawing/2014/main" id="{2A387A76-7EC2-4F85-AC47-B1F12CCE2A57}"/>
              </a:ext>
            </a:extLst>
          </p:cNvPr>
          <p:cNvSpPr>
            <a:spLocks noGrp="1"/>
          </p:cNvSpPr>
          <p:nvPr/>
        </p:nvSpPr>
        <p:spPr>
          <a:xfrm>
            <a:off x="2305050" y="3467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vector / bm25 / hybrid</a:t>
            </a:r>
          </a:p>
        </p:txBody>
      </p:sp>
      <p:sp>
        <p:nvSpPr>
          <p:cNvPr id="10" name="s3-log-key-2">
            <a:extLst>
              <a:ext uri="{FF2B5EF4-FFF2-40B4-BE49-F238E27FC236}">
                <a16:creationId xmlns:a16="http://schemas.microsoft.com/office/drawing/2014/main" id="{0E440725-6A6B-4728-986C-9B37327A999E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latency</a:t>
            </a:r>
          </a:p>
        </p:txBody>
      </p:sp>
      <p:sp>
        <p:nvSpPr>
          <p:cNvPr id="11" name="s3-log-val-2">
            <a:extLst>
              <a:ext uri="{FF2B5EF4-FFF2-40B4-BE49-F238E27FC236}">
                <a16:creationId xmlns:a16="http://schemas.microsoft.com/office/drawing/2014/main" id="{15BB0B54-A213-473D-B53C-E8C06C579918}"/>
              </a:ext>
            </a:extLst>
          </p:cNvPr>
          <p:cNvSpPr>
            <a:spLocks noGrp="1"/>
          </p:cNvSpPr>
          <p:nvPr/>
        </p:nvSpPr>
        <p:spPr>
          <a:xfrm>
            <a:off x="2305050" y="3829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本次检索耗时</a:t>
            </a:r>
          </a:p>
        </p:txBody>
      </p:sp>
      <p:sp>
        <p:nvSpPr>
          <p:cNvPr id="12" name="s3-log-key-3">
            <a:extLst>
              <a:ext uri="{FF2B5EF4-FFF2-40B4-BE49-F238E27FC236}">
                <a16:creationId xmlns:a16="http://schemas.microsoft.com/office/drawing/2014/main" id="{F8A57BE5-460C-4EDD-AD75-5FAC7B7B979A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result_count</a:t>
            </a:r>
          </a:p>
        </p:txBody>
      </p:sp>
      <p:sp>
        <p:nvSpPr>
          <p:cNvPr id="13" name="s3-log-val-3">
            <a:extLst>
              <a:ext uri="{FF2B5EF4-FFF2-40B4-BE49-F238E27FC236}">
                <a16:creationId xmlns:a16="http://schemas.microsoft.com/office/drawing/2014/main" id="{C61E52B8-CAD6-452A-9F00-0EBF1E5A734C}"/>
              </a:ext>
            </a:extLst>
          </p:cNvPr>
          <p:cNvSpPr>
            <a:spLocks noGrp="1"/>
          </p:cNvSpPr>
          <p:nvPr/>
        </p:nvSpPr>
        <p:spPr>
          <a:xfrm>
            <a:off x="2305050" y="41910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最终返回条数</a:t>
            </a:r>
          </a:p>
        </p:txBody>
      </p:sp>
      <p:sp>
        <p:nvSpPr>
          <p:cNvPr id="14" name="s3-log-key-4">
            <a:extLst>
              <a:ext uri="{FF2B5EF4-FFF2-40B4-BE49-F238E27FC236}">
                <a16:creationId xmlns:a16="http://schemas.microsoft.com/office/drawing/2014/main" id="{E46A5953-0571-4960-8DC8-66B4885C0338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3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6B35"/>
                </a:solidFill>
                <a:latin typeface="Consolas"/>
                <a:ea typeface="Consolas"/>
                <a:cs typeface="Consolas"/>
              </a:rPr>
              <a:t>top_scores</a:t>
            </a:r>
          </a:p>
        </p:txBody>
      </p:sp>
      <p:sp>
        <p:nvSpPr>
          <p:cNvPr id="15" name="s3-log-val-4">
            <a:extLst>
              <a:ext uri="{FF2B5EF4-FFF2-40B4-BE49-F238E27FC236}">
                <a16:creationId xmlns:a16="http://schemas.microsoft.com/office/drawing/2014/main" id="{05148478-BCC6-404D-A6D6-E74A644691D1}"/>
              </a:ext>
            </a:extLst>
          </p:cNvPr>
          <p:cNvSpPr>
            <a:spLocks noGrp="1"/>
          </p:cNvSpPr>
          <p:nvPr/>
        </p:nvSpPr>
        <p:spPr>
          <a:xfrm>
            <a:off x="2305050" y="4552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前几个结果的相关性分数</a:t>
            </a:r>
          </a:p>
        </p:txBody>
      </p:sp>
      <p:sp>
        <p:nvSpPr>
          <p:cNvPr id="16" name="s3-result-panel">
            <a:extLst>
              <a:ext uri="{FF2B5EF4-FFF2-40B4-BE49-F238E27FC236}">
                <a16:creationId xmlns:a16="http://schemas.microsoft.com/office/drawing/2014/main" id="{066F4EBE-0C20-4959-8991-52D343BE4271}"/>
              </a:ext>
            </a:extLst>
          </p:cNvPr>
          <p:cNvSpPr>
            <a:spLocks noGrp="1"/>
          </p:cNvSpPr>
          <p:nvPr/>
        </p:nvSpPr>
        <p:spPr>
          <a:xfrm>
            <a:off x="6153150" y="2266950"/>
            <a:ext cx="56388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s3-result-title">
            <a:extLst>
              <a:ext uri="{FF2B5EF4-FFF2-40B4-BE49-F238E27FC236}">
                <a16:creationId xmlns:a16="http://schemas.microsoft.com/office/drawing/2014/main" id="{6D89C027-0FE1-4A46-BF5F-040AE511FC9B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eval_results.json 输出</a:t>
            </a:r>
          </a:p>
        </p:txBody>
      </p:sp>
      <p:sp>
        <p:nvSpPr>
          <p:cNvPr id="18" name="s3-result-mark-0">
            <a:extLst>
              <a:ext uri="{FF2B5EF4-FFF2-40B4-BE49-F238E27FC236}">
                <a16:creationId xmlns:a16="http://schemas.microsoft.com/office/drawing/2014/main" id="{40D5CEEC-6D12-4180-81BA-FA05702FA117}"/>
              </a:ext>
            </a:extLst>
          </p:cNvPr>
          <p:cNvSpPr>
            <a:spLocks noGrp="1"/>
          </p:cNvSpPr>
          <p:nvPr/>
        </p:nvSpPr>
        <p:spPr>
          <a:xfrm>
            <a:off x="6515100" y="3267075"/>
            <a:ext cx="171450" cy="1714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9" name="s3-result-key-0">
            <a:extLst>
              <a:ext uri="{FF2B5EF4-FFF2-40B4-BE49-F238E27FC236}">
                <a16:creationId xmlns:a16="http://schemas.microsoft.com/office/drawing/2014/main" id="{8BBAF2A8-79CB-4D85-9CE5-D9E233E8EF20}"/>
              </a:ext>
            </a:extLst>
          </p:cNvPr>
          <p:cNvSpPr>
            <a:spLocks noGrp="1"/>
          </p:cNvSpPr>
          <p:nvPr/>
        </p:nvSpPr>
        <p:spPr>
          <a:xfrm>
            <a:off x="6896100" y="3200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case_count = 4</a:t>
            </a:r>
          </a:p>
        </p:txBody>
      </p:sp>
      <p:sp>
        <p:nvSpPr>
          <p:cNvPr id="20" name="s3-result-desc-0">
            <a:extLst>
              <a:ext uri="{FF2B5EF4-FFF2-40B4-BE49-F238E27FC236}">
                <a16:creationId xmlns:a16="http://schemas.microsoft.com/office/drawing/2014/main" id="{E08E5234-4D85-4EE8-93BB-A3A634C24709}"/>
              </a:ext>
            </a:extLst>
          </p:cNvPr>
          <p:cNvSpPr>
            <a:spLocks noGrp="1"/>
          </p:cNvSpPr>
          <p:nvPr/>
        </p:nvSpPr>
        <p:spPr>
          <a:xfrm>
            <a:off x="6896100" y="35242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本次演示用了 4 条评测问题</a:t>
            </a:r>
          </a:p>
        </p:txBody>
      </p:sp>
      <p:sp>
        <p:nvSpPr>
          <p:cNvPr id="21" name="s3-result-mark-1">
            <a:extLst>
              <a:ext uri="{FF2B5EF4-FFF2-40B4-BE49-F238E27FC236}">
                <a16:creationId xmlns:a16="http://schemas.microsoft.com/office/drawing/2014/main" id="{BA19E735-1829-4CE3-85E6-C85FD2CBB307}"/>
              </a:ext>
            </a:extLst>
          </p:cNvPr>
          <p:cNvSpPr>
            <a:spLocks noGrp="1"/>
          </p:cNvSpPr>
          <p:nvPr/>
        </p:nvSpPr>
        <p:spPr>
          <a:xfrm>
            <a:off x="6515100" y="3914775"/>
            <a:ext cx="171450" cy="1714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2" name="s3-result-key-1">
            <a:extLst>
              <a:ext uri="{FF2B5EF4-FFF2-40B4-BE49-F238E27FC236}">
                <a16:creationId xmlns:a16="http://schemas.microsoft.com/office/drawing/2014/main" id="{16DD670F-7029-4607-AFB4-0BB1CFD6A051}"/>
              </a:ext>
            </a:extLst>
          </p:cNvPr>
          <p:cNvSpPr>
            <a:spLocks noGrp="1"/>
          </p:cNvSpPr>
          <p:nvPr/>
        </p:nvSpPr>
        <p:spPr>
          <a:xfrm>
            <a:off x="6896100" y="38481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FF6B35"/>
                </a:solidFill>
                <a:latin typeface="Consolas"/>
                <a:ea typeface="Consolas"/>
                <a:cs typeface="Consolas"/>
              </a:rPr>
              <a:t>Hit Rate@3 = 1.00</a:t>
            </a:r>
          </a:p>
        </p:txBody>
      </p:sp>
      <p:sp>
        <p:nvSpPr>
          <p:cNvPr id="23" name="s3-result-desc-1">
            <a:extLst>
              <a:ext uri="{FF2B5EF4-FFF2-40B4-BE49-F238E27FC236}">
                <a16:creationId xmlns:a16="http://schemas.microsoft.com/office/drawing/2014/main" id="{8E1A68F9-25B8-4ADD-97A8-98BBDD0D3F42}"/>
              </a:ext>
            </a:extLst>
          </p:cNvPr>
          <p:cNvSpPr>
            <a:spLocks noGrp="1"/>
          </p:cNvSpPr>
          <p:nvPr/>
        </p:nvSpPr>
        <p:spPr>
          <a:xfrm>
            <a:off x="6896100" y="41719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 条问题的正确文档都进入 Top 3</a:t>
            </a:r>
          </a:p>
        </p:txBody>
      </p:sp>
      <p:sp>
        <p:nvSpPr>
          <p:cNvPr id="24" name="s3-result-mark-2">
            <a:extLst>
              <a:ext uri="{FF2B5EF4-FFF2-40B4-BE49-F238E27FC236}">
                <a16:creationId xmlns:a16="http://schemas.microsoft.com/office/drawing/2014/main" id="{A15780CD-E9C8-40B3-80F5-D3DDBEE1B017}"/>
              </a:ext>
            </a:extLst>
          </p:cNvPr>
          <p:cNvSpPr>
            <a:spLocks noGrp="1"/>
          </p:cNvSpPr>
          <p:nvPr/>
        </p:nvSpPr>
        <p:spPr>
          <a:xfrm>
            <a:off x="6515100" y="4562475"/>
            <a:ext cx="171450" cy="1714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5" name="s3-result-key-2">
            <a:extLst>
              <a:ext uri="{FF2B5EF4-FFF2-40B4-BE49-F238E27FC236}">
                <a16:creationId xmlns:a16="http://schemas.microsoft.com/office/drawing/2014/main" id="{097B59CC-B7E3-42A8-9C64-A0EB6590F76D}"/>
              </a:ext>
            </a:extLst>
          </p:cNvPr>
          <p:cNvSpPr>
            <a:spLocks noGrp="1"/>
          </p:cNvSpPr>
          <p:nvPr/>
        </p:nvSpPr>
        <p:spPr>
          <a:xfrm>
            <a:off x="6896100" y="44958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725" b="1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MRR = 0.875</a:t>
            </a:r>
          </a:p>
        </p:txBody>
      </p:sp>
      <p:sp>
        <p:nvSpPr>
          <p:cNvPr id="26" name="s3-result-desc-2">
            <a:extLst>
              <a:ext uri="{FF2B5EF4-FFF2-40B4-BE49-F238E27FC236}">
                <a16:creationId xmlns:a16="http://schemas.microsoft.com/office/drawing/2014/main" id="{B0A2A10E-F036-4465-878F-5028D3D1F188}"/>
              </a:ext>
            </a:extLst>
          </p:cNvPr>
          <p:cNvSpPr>
            <a:spLocks noGrp="1"/>
          </p:cNvSpPr>
          <p:nvPr/>
        </p:nvSpPr>
        <p:spPr>
          <a:xfrm>
            <a:off x="6896100" y="48196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正确结果整体排名靠前，只有 1 条排在第 2</a:t>
            </a:r>
          </a:p>
        </p:txBody>
      </p:sp>
      <p:sp>
        <p:nvSpPr>
          <p:cNvPr id="27" name="s3-command">
            <a:extLst>
              <a:ext uri="{FF2B5EF4-FFF2-40B4-BE49-F238E27FC236}">
                <a16:creationId xmlns:a16="http://schemas.microsoft.com/office/drawing/2014/main" id="{E911A9E3-ABCB-4168-AD3E-706AD9441731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运行命令：python demo_cp3_evaluate.py</a:t>
            </a:r>
          </a:p>
        </p:txBody>
      </p:sp>
      <p:sp>
        <p:nvSpPr>
          <p:cNvPr id="28" name="s3-result">
            <a:extLst>
              <a:ext uri="{FF2B5EF4-FFF2-40B4-BE49-F238E27FC236}">
                <a16:creationId xmlns:a16="http://schemas.microsoft.com/office/drawing/2014/main" id="{B6F5B694-F6F0-43CA-AF84-01717305CFF8}"/>
              </a:ext>
            </a:extLst>
          </p:cNvPr>
          <p:cNvSpPr>
            <a:spLocks noGrp="1"/>
          </p:cNvSpPr>
          <p:nvPr/>
        </p:nvSpPr>
        <p:spPr>
          <a:xfrm>
            <a:off x="6896100" y="58293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生成文件：项目代码/eval_results.json</a:t>
            </a:r>
          </a:p>
        </p:txBody>
      </p:sp>
      <p:sp>
        <p:nvSpPr>
          <p:cNvPr id="29" name="footer-3">
            <a:extLst>
              <a:ext uri="{FF2B5EF4-FFF2-40B4-BE49-F238E27FC236}">
                <a16:creationId xmlns:a16="http://schemas.microsoft.com/office/drawing/2014/main" id="{2B4E4B1D-965F-4AF5-AAFC-D3AEF7FD9A77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02719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DocSecurity>0</DocSecurity>
  <PresentationFormat>宽屏</PresentationFormat>
  <Paragraphs>66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嘉兴 戴</cp:lastModifiedBy>
  <cp:revision>1</cp:revision>
  <dcterms:created xsi:type="dcterms:W3CDTF">2026-06-29T02:14:14Z</dcterms:created>
  <dcterms:modified xsi:type="dcterms:W3CDTF">2026-06-29T02:17:48Z</dcterms:modified>
</cp:coreProperties>
</file>